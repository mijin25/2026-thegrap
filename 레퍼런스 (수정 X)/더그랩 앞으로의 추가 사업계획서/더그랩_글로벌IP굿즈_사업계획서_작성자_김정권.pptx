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kpopmerch.com/" TargetMode="External"/><Relationship Id="rId2" Type="http://schemas.openxmlformats.org/officeDocument/2006/relationships/hyperlink" Target="https://shop.weverse.io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ymusictaste.com/" TargetMode="External"/><Relationship Id="rId2" Type="http://schemas.openxmlformats.org/officeDocument/2006/relationships/hyperlink" Target="https://www.bravado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0"/>
            <a:ext cx="22860" cy="6858000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PLAN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21945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더그랩 글로벌 IP 굿즈 &amp;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커머스 엑셀러레이팅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0584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 Global IP Goods &amp; Commerce Accelerating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548640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   |   CEO James Kim   | 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9144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2A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전망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팬덤 경제의 폭발적 성장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'내부 육성 후 분사'인가?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47288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566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재편 및 인력 R&amp;R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3840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협업과 명확한 역할 분담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24528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343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매뉴얼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4617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초보자를 위한 7단계 프로세스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001768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5120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타겟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63040" y="5394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KPOPMERCH · Weverse Shop · MyMusicTaste · Bravado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779008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897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5897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로드맵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463040" y="6172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Grap Spin-off Path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6556248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6675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6675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유통 채널 확장 로드맵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463040" y="6949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Tier별 시장 분석 · 단계별 지역 확장 플랜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전망: 팬덤 경제의 폭발적 성장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굿즈 시장은 단순 소모품을 넘어 아티스트의 서사를 소장하는 '팬덤 경제(Fandom Economy)'의 핵심 동력입니다.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4141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규모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15.8%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(연평균 성장률)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46634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846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~35조 원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05840" y="5440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2030년 글로벌 팬덤 시장 규모 전망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4141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구조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25~30%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658368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 아티스트 매출 중 굿즈 비중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46634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846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20~40%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83680" y="5440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굿즈 영업이익률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전략: 왜 '내부 육성 후 분사'인가?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법인 설립보다 더그랩 내 프로젝트팀으로 시작하는 것이 전략적으로 유리한 이유는 다음과 같습니다.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4141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743200"/>
            <a:ext cx="36576" cy="411480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최소화 및 행정 효율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004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설립 시 발생하는 세무·행정 비용을 절감하고, 사업 계획 실행 및 데이터 확보에만 에너지를 집중합니다. 실패나 피벗(방향 전환) 시 유연한 대처가 가능합니다.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4688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41419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743200"/>
            <a:ext cx="36576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자금 운용 및 세무 이점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03720" y="32004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더그랩의 유보금을 복잡한 절차 없이 즉시 투입할 수 있으며, 초기 인건비와 매입비를 기존 법인의 비용으로 처리하여 세무적 이점을 누립니다.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4141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846320"/>
            <a:ext cx="36576" cy="41148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800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기반의 자금 조달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53035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'아이디어'만으로 지원금을 받기보다, 내부 프로젝트를 통해 검증된 '매출 데이터'를 들고 나갈 때 훨씬 큰 규모의 정부 지원과 투자 유치가 가능합니다. 신설 법인 전용 혜택은 가장 확실한 타이밍에 사용합니다.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5720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41419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4846320"/>
            <a:ext cx="36576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800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인력의 안정성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53035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오퍼레이터가 기존 업력이 있는 더그랩 소속일 때 심리적 안정감을 느끼며, 성과 확인 후 핵심 멤버로 분사시키는 것이 팀 빌딩에 유리합니다.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재편 및 인력 R&amp;R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 인력의 한계를 극복하기 위해 'AI 협업'과 '명확한 역할 분담'을 실행합니다.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70408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실무 (Action Item)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8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A8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CBO / AD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서미진 실장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브랜드 가이드 수립, 디자인 총괄, 퀄리티 검수, AI 디자인 핸들링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Operator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경력직 (4월 채용)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플랫폼 입점/운영, 벤더사 소통, 물류/CS 관리, 판매 데이터 취합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8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Director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대표님 &amp; 영결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확보, 라이선스 협상, 대만/중국 네트워킹, 법인 분사 전략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77800" marR="177800" marT="101600" marB="1016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3035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41419"/>
          </a:solidFill>
          <a:ln w="6350">
            <a:solidFill>
              <a:srgbClr val="4DA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3492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포인트 —  AI 협업을 통해 초보 인력의 역량을 빠르게 레벨업하고, 각 역할의 전문성에 집중하여 효율을 극대화합니다.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매뉴얼: 초보자를 위한 7단계 프로세스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4141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3566160"/>
            <a:ext cx="16916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490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클로드(AI)를 활용해 타겟 팬덤의 니즈와 가격대 분석.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41419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011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749040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6916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37490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초기에는 제작 벤더사를 활용해 퀄리티와 납기 준수 검증 (리스크 분산).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41419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011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B6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66560" y="3566160"/>
            <a:ext cx="16916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7490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대만 현지 물류(동건 씨 협력) 및 글로벌 유통 채널(쇼피 등) 세팅.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252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0" y="182880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4141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011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9418320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01200" y="3566160"/>
            <a:ext cx="16916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374904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72시간 타임세일 및 선주문 시스템으로 재고 제로화 달성.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  STEP 05 ~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매뉴얼: 7단계 프로세스 (계속)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828800"/>
            <a:ext cx="3017520" cy="3657600"/>
          </a:xfrm>
          <a:prstGeom prst="roundRect">
            <a:avLst>
              <a:gd name="adj" fmla="val 3030"/>
            </a:avLst>
          </a:prstGeom>
          <a:solidFill>
            <a:srgbClr val="14141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4592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0" y="3566160"/>
            <a:ext cx="210312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749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수량 발주 (불량 대비 5% 예비분 포함).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743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017520" cy="3657600"/>
          </a:xfrm>
          <a:prstGeom prst="roundRect">
            <a:avLst>
              <a:gd name="adj" fmla="val 3030"/>
            </a:avLst>
          </a:prstGeom>
          <a:solidFill>
            <a:srgbClr val="14141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12080" y="3566160"/>
            <a:ext cx="210312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749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3PL → 대만 창고 일괄 입고 → 현지 개별 배송 시스템 가동.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743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017520" cy="3657600"/>
          </a:xfrm>
          <a:prstGeom prst="roundRect">
            <a:avLst>
              <a:gd name="adj" fmla="val 3030"/>
            </a:avLst>
          </a:prstGeom>
          <a:solidFill>
            <a:srgbClr val="141419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41248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95360" y="3566160"/>
            <a:ext cx="210312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3749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DB 및 결제 데이터 분석 후 다음 프로젝트 반영.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41419"/>
          </a:solidFill>
          <a:ln w="6350">
            <a:solidFill>
              <a:srgbClr val="4DA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→ 소싱 → 인프라 → 판매 → 생산 → 물류 → 데이터   ⟳   반복 &amp; 최적화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타겟 (1/2)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5303520" cy="36576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케이팝머치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KPOPMERCH</a:t>
            </a:r>
            <a:endParaRPr lang="en-US" sz="12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10058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kpopmerch.com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전 세계 초고속 유통 시스템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현지 배송 최적화 시스템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글로벌 멀티 마켓플레이스 동시 입점 전략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(Shopee, Lazada, Amazon, Rakuten 등)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한터차트 공식 집계 반영 인증 확보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도매(Wholesale) 채널 B2B 모델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28800"/>
            <a:ext cx="5303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위버스샵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Weverse Shop</a:t>
            </a:r>
            <a:endParaRPr lang="en-US" sz="120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65836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shop.weverse.io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2918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포인트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공연과 결합된 '한정판/독점 굿즈' 전략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팬덤 혜택 설계 도입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커뮤니티 + 커머스 통합 모델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(Weverse 팬 커뮤니티 → 바로 구매 연결)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Pick-Up 서비스: 공연장 현장 수령 물류 혁신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글로벌 세금/관세 자동 처리 시스템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타겟 (2/2) — 공연 &amp; 굿즈 겸업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5303520" cy="36576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마이뮤직테이스트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MyMusicTaste  ·  공연 + 굿즈 통합</a:t>
            </a:r>
            <a:endParaRPr lang="en-US" sz="12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10058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mymusictaste.com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팬 수요 기반 콘서트 기획 (Fan-Demand Model)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팬 요청 → 수요 검증 → 실제 공연 성사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60개+ 도시, 500회+ 오프라인 콘서트 개최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BTS, EXO, Stray Kids 등 100팀+ 아티스트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공연 기획 단계에서 굿즈 판매를 패키지화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(VIP 이벤트 + 번들 굿즈)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51명으로 연매출 $15M, 3개 대륙 운영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소규모 조직 글로벌 운영 증명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더 그랩 피봇 방향과 가장 직접적 유사 모델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28800"/>
            <a:ext cx="530352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브라바도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Bravado (UMG)  ·  투어 머치 + 글로벌 굿즈</a:t>
            </a:r>
            <a:endParaRPr lang="en-US" sz="120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65836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bravado.com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2918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포인트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세계 최대 음악 머천다이즈 오퍼레이션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연매출 $900M+, 40개국 운영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'투어 머치 = 패션 브랜딩' 전략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아티스트 IP를 패션 브랜드로 포지셔닝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라이선스 모델: IP → 의류, 피규어 등 확장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비소속 아티스트도 25% 취급 (오픈 모델)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공연현장 → D2C 이커머스 → 리테일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옴니채널 3단계 유통 구조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BLACKPINK 등 K-POP 아티스트 머치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미주/유럽/호주 유통 (YG 라이선스 계약)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비교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A8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KPOPMERCH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Weverse Shop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68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MyMusicTaste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D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Bravado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공연 사업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(HYBE 연계)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B68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직접 기획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B68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(Fan-Demand)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D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투어 머치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D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굿즈 사업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리테일 전문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D2C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멤버십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앨범/굿즈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/팬사인회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풀서비스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360도 머치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연매출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(HYBE 연결)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~$15M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$900M+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강점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 마켓플레이스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커뮤니티+커머스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공연+굿즈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모델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 360도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그랩 적용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유통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 참고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팬 플랫폼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참고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B68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비즈니스 모델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B68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참고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크리에이티브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머치 전략 참고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577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419"/>
          </a:solidFill>
          <a:ln w="6350">
            <a:solidFill>
              <a:srgbClr val="7B6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56235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MyMusicTaste가 더 그랩의 피봇 방향에 가장 가까운 모델 — 공연 프로모팅 + 굿즈 커머스를 하나의 조직에서 운영하는 구조, 소규모 팀으로 글로벌 3개 대륙 운영 증명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로드맵: The Grap Spin-off 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10881360" cy="36576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920240"/>
            <a:ext cx="411480" cy="411480"/>
          </a:xfrm>
          <a:prstGeom prst="ellipse">
            <a:avLst/>
          </a:prstGeom>
          <a:solidFill>
            <a:srgbClr val="4DA8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6060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4141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606040"/>
            <a:ext cx="3520440" cy="36576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프로젝트  |  3~6월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29718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3월 대만 출장을 통한 물류 확보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4월 오퍼레이터 채용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7월 공연 굿즈 테스트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920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06440" y="19202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26060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41419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606040"/>
            <a:ext cx="352044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확인  |  8~9월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749040"/>
            <a:ext cx="29718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393192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고정 매출 지표 확인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글로벌 유통 데이터 확보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26680" y="1920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09760" y="192024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26060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4141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2606040"/>
            <a:ext cx="352044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21040" y="33375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분사 및 도약  |  10월~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749040"/>
            <a:ext cx="29718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393192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확인된 데이터를 바탕으로 정부 지원금 신청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동시에 별도 법인 분리(Spin-off)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더그랩 글로벌 유통 채널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로드맵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초기에는 인적 리소스를 고려하여 물류 효율이 높고 팬덤 데이터가 즉각적으로 찍히는 지역을 Tier 1으로 설정합니다.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대만, 말레이시아, 홍콩, 마카오, 일본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212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5212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미국, 서유럽(영국, 독일), 인도네시아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80644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943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5943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UAE(두바이), 브라질, 멕시코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914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2A2A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지역별 시장 분석 및 확장 우선순위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475488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타겟 지역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특징 및 구매력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 플랫폼 (E-commerce)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DA8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Tier 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DA8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(즉시)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대만, 말레이시아,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홍콩, 마카오, 일본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중화권/동남아 핵심. 홍콩·마카오는 관세 혜택과 높은 객단가를 보유. 말레이시아는 2026년 이커머스 시장 121억 달러 규모로 급성장 중.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Shopee(대만/말레이),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Lazada,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Shopify(홍콩 자사몰),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Rakuten(일본)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Tier 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D4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(6개월 내)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서유럽(영국, 독일),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인도네시아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고부가가치 시장. 배송비 저항이 적고 한정판에 대한 니즈가 강력함. 인도네시아는 세계 최대 규모의 K-POP 팬덤 보유.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Amazon FBA(미국),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Shopify,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Shopee(인니)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Tier 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D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(1년 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UAE(두바이),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브라질, 멕시코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신흥 전략 요충지. 중동은 프리미엄 굿즈에 최적화된 오일머니 시장. 남미는 대규모 공동구매 기반의 폭발적 화력 보유.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Noon(UAE),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Mercado Libre(남미),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Global Shopify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41419"/>
          </a:solidFill>
          <a:ln w="6350">
            <a:solidFill>
              <a:srgbClr val="4DA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1 → 즉시 진입 (물류 효율 극대화)     |     Tier 2 → 6개월 내 (고부가가치 시장)     |     Tier 3 → 1년 후 (신흥 전략 요충지)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지역 확장 플랜: The Grap's Footprint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088136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거점 확보  |  1~6개월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697480"/>
            <a:ext cx="101498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9260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926080"/>
            <a:ext cx="3108960" cy="27432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대만 (허브)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홍콩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마카오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9260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2926080"/>
            <a:ext cx="3383280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5204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대만 출장을 통해 확보한 물류망을 바탕으로 홍콩·마카오 프리미엄 라인과 말레이시아 볼륨 라인을 동시 가동합니다.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926080"/>
            <a:ext cx="3108960" cy="2743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역할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5204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지역별 언어(번체, 말레이어, 일어) 상세 페이지 자동 생성 및 현지 통화 기반의 실시간 가격 최적화 수행.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지역 확장 플랜: The Grap's Footprint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088136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및 대량 유통 진입  |  7~12개월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697480"/>
            <a:ext cx="101498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9260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926080"/>
            <a:ext cx="3108960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독일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인도네시아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9260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2926080"/>
            <a:ext cx="3383280" cy="27432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5204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서구권은 공연 IP 기반 'High-End' 굿즈 위주로, 인도네시아는 대중적인 굿즈 대량 유통에 집중합니다.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926080"/>
            <a:ext cx="3108960" cy="2743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역할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5204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서구권 팬덤 커뮤니티(Reddit, X) 타겟 바이럴 마케팅 및 인니 현지 트렌드 맞춤형 카피라이팅 생성.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지역 확장 플랜: The Grap's Footprint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088136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신시장 개척  |  1년 이후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697480"/>
            <a:ext cx="1014984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9260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2926080"/>
            <a:ext cx="3108960" cy="274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(두바이)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브라질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멕시코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9260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2926080"/>
            <a:ext cx="3383280" cy="27432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5204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중동의 럭셔리 패키징 전략과 남미의 공동구매 플랫폼을 연계한 대규모 물류 자동화 시스템을 가동합니다.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A1A22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926080"/>
            <a:ext cx="3108960" cy="2743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역할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5204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현지 문화적 금기사항(Taboo) 필터링 및 지역별 선호 캐릭터/색상 데이터 기반 신상품 기획.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매뉴얼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굿즈 유통 사업 개시를 위한 행정·자격 가이드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 등록 변경 및 업종 추가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통신판매업 신고 (필수 자격)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20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유통을 위한 계정 및 인프라 구축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6692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806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벤더사 계약 및 세금계산서 프로세스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01-02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 등록 변경 · 통신판매업 신고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5303520" cy="36576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사업자 등록 변경 및 업종 추가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더그랩 사업자로 커머스 업무를 수행하기 위해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국세청 홈택스나 세무서에서 '업태'와 '종목'을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추가해야 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업종 추천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406908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업종코드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전자상거래 소매업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A8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525101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 판매의 기본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직구 대행업 /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수출입업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 유통(대만 등) 대비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005840" y="548640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1A1A22"/>
          </a:solidFill>
          <a:ln w="6350">
            <a:solidFill>
              <a:srgbClr val="4DA8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5532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— 홈택스 접속 → 신청/제출 → 사업자등록 정정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0" y="18288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41419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1828800"/>
            <a:ext cx="5303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통신판매업 신고 (필수)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8368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온라인에서 결제가 이루어지는 모든 사업은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관할 구청에 '통신판매업 신고'를 해야 합니다.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0" y="333756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38404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구매안전서비스(에스크로) 이용확인증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기업은행, 국민은행 등에서 발급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쇼핑몰 호스팅사(카페24, 쇼피파이 등)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에서 발급 가능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0" y="530352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5440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방법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정부24 (www.gov.kr) 에서 온라인 신청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0" y="608076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1A1A22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0" y="60807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면허세 — 매년 약 40,500원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유통을 위한 계정 및 인프라 구축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오퍼레이터(운영자) 채용 전 대표님과 미진 실장님이 먼저 확보해야 할 채널입니다.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14141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68880"/>
            <a:ext cx="5303520" cy="36576"/>
          </a:xfrm>
          <a:prstGeom prst="rect">
            <a:avLst/>
          </a:prstGeom>
          <a:solidFill>
            <a:srgbClr val="4DA8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결제 및 해외 정산 채널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83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PG사 가입 및 카드 결제 연동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(KG이니시스, 토스페이먼츠 등)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443484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8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페이팔(PayPal) 비즈니스 계정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페이오니아(Payoneer) 계정 생성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해외 판매 대금 정산용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14141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468880"/>
            <a:ext cx="5303520" cy="36576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글로벌 유통 플랫폼 입점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3~4월 목표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324612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대만 거점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79476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1A1A2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쇼피(Shopee) 대만 판매자 계정 생성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75488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8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채널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530352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1A1A2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5349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쇼피파이(Shopify) 또는 카페24 글로벌 몰 구축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브랜드 아이덴티티 강조용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벤더사 계약 및 세금계산서 프로세스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초기에는 벤더사를 활용하므로, 거래 시 주의사항입니다.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4141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68880"/>
            <a:ext cx="530352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계약서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권리는 더그랩에 있음을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명시한 제작 계약서 체결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297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디자인 저작권 귀속 조항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4663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납기일 및 불량률 허용 범위 명시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샘플 승인 프로세스 포함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5394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비밀유지조항(NDA) 삽입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4141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468880"/>
            <a:ext cx="5303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세금계산서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3246120"/>
            <a:ext cx="4572000" cy="9144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굿즈 매입 비용은 부가세 매입세액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공제 대상이므로 반드시 챙겨야 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429768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1A1A22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3434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686800" y="4343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부가세 매입세액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공제 환급 가능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557784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A1A22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5577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전자세금계산서 발행 필수 (홈택스 연동)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더그랩 글로벌 IP 굿즈 &amp; 커머스 엑셀러레이팅</dc:title>
  <dc:subject>PptxGenJS Presentation</dc:subject>
  <dc:creator>The Grap</dc:creator>
  <cp:lastModifiedBy>The Grap</cp:lastModifiedBy>
  <cp:revision>1</cp:revision>
  <dcterms:created xsi:type="dcterms:W3CDTF">2026-02-25T01:45:30Z</dcterms:created>
  <dcterms:modified xsi:type="dcterms:W3CDTF">2026-02-25T01:45:30Z</dcterms:modified>
</cp:coreProperties>
</file>